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Gelasio" panose="020B0600000101010101" charset="0"/>
      <p:regular r:id="rId13"/>
    </p:embeddedFont>
    <p:embeddedFont>
      <p:font typeface="Gelasio Semi Bold" panose="020B0600000101010101" charset="0"/>
      <p:regular r:id="rId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21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82347"/>
            <a:ext cx="669107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&lt;책이음과 함께하는 AI 활용 아이디어 챌린지</a:t>
            </a:r>
            <a:r>
              <a:rPr lang="en-US" sz="26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&gt; 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93790" y="3347799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리터러시 렌즈</a:t>
            </a:r>
            <a:endParaRPr lang="en-US" sz="6150" dirty="0">
              <a:latin typeface="+mj-ea"/>
              <a:ea typeface="+mj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6661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- 생성형 AI 기반 문해력 튜터 및 도서관 게임 플랫폼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28423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발표자: 202020943 신홍근</a:t>
            </a:r>
            <a:endParaRPr lang="en-US" sz="17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58509"/>
            <a:ext cx="72062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텍스트힙 트렌드와 문해력 위기</a:t>
            </a:r>
            <a:endParaRPr lang="en-US" sz="4450" dirty="0">
              <a:latin typeface="+mj-ea"/>
              <a:ea typeface="+mj-ea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텍스트힙 현상</a:t>
            </a:r>
            <a:endParaRPr lang="en-US" sz="2500" b="1" dirty="0">
              <a:latin typeface="+mj-ea"/>
              <a:ea typeface="+mj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215408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MZ세대 중심으로 독서가 자기표현 수단으로 확산. SNS 과시 욕구로 책을 구매하지만 </a:t>
            </a:r>
            <a:r>
              <a:rPr lang="en-US" sz="1750" b="1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실제 독서는 감소</a:t>
            </a: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하는 역설적 상황.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4856321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실질 문해력 저하</a:t>
            </a:r>
            <a:endParaRPr lang="en-US" sz="2500" b="1" dirty="0">
              <a:latin typeface="+mj-ea"/>
              <a:ea typeface="+mj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56321" y="4215408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한국 성인 문해력 점수는 OECD 평균 미달. 글자는 읽지만 이해하지 못하는 </a:t>
            </a:r>
            <a:r>
              <a:rPr lang="en-US" sz="1750" b="1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실질적 문맹</a:t>
            </a: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이 증가 중.</a:t>
            </a:r>
            <a:endParaRPr lang="en-US" sz="17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65133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AI 시대, 문해력은 필수</a:t>
            </a:r>
            <a:endParaRPr lang="en-US" sz="6150" dirty="0">
              <a:latin typeface="+mj-ea"/>
              <a:ea typeface="+mj-ea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283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타인의 관점 수용 능력과 비판적 사고력을 기르는 문해력은 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901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수많은 정보의 경중을 파악하기 위해 꼭 필요합니다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070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기존 서비스의 한계</a:t>
            </a:r>
            <a:endParaRPr lang="en-US" sz="4450" b="1" dirty="0">
              <a:latin typeface="+mj-ea"/>
              <a:ea typeface="+mj-ea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2855952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082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746558"/>
                </a:solidFill>
                <a:latin typeface="+mj-ea"/>
                <a:ea typeface="+mj-ea"/>
                <a:cs typeface="Gelasio Semi Bold" pitchFamily="34" charset="-120"/>
              </a:rPr>
              <a:t>물류 중심 서비스</a:t>
            </a:r>
            <a:endParaRPr lang="en-US" sz="2200" b="1" dirty="0">
              <a:latin typeface="+mj-ea"/>
              <a:ea typeface="+mj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07004" y="3573185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현재 책이음은 </a:t>
            </a:r>
            <a:r>
              <a:rPr lang="en-US" sz="1750" b="1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대출과 반납의 편의성</a:t>
            </a: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에만 집중. 이용자의 실제 이해도 확인은 미흡.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280190" y="4752618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6507004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746558"/>
                </a:solidFill>
                <a:latin typeface="+mj-ea"/>
                <a:ea typeface="+mj-ea"/>
                <a:cs typeface="Gelasio Semi Bold" pitchFamily="34" charset="-120"/>
              </a:rPr>
              <a:t>새로운 해결책 필요</a:t>
            </a:r>
            <a:endParaRPr lang="en-US" sz="2200" b="1" dirty="0">
              <a:latin typeface="+mj-ea"/>
              <a:ea typeface="+mj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6507004" y="5469850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책의 </a:t>
            </a:r>
            <a:r>
              <a:rPr lang="en-US" sz="1750" b="1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내용과</a:t>
            </a: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 이용자의 </a:t>
            </a:r>
            <a:r>
              <a:rPr lang="en-US" sz="1750" b="1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이해를 연결</a:t>
            </a: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하는 서비스가 필요. 공공 데이터와 AI 기술의 결합이 해답.</a:t>
            </a:r>
            <a:endParaRPr lang="en-US" sz="17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68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서비스 핵심 컨셉</a:t>
            </a:r>
            <a:endParaRPr lang="en-US" sz="4450" b="1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33951" y="333946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"리터러시 렌즈"</a:t>
            </a:r>
            <a:endParaRPr lang="en-US" sz="3550" b="1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33951" y="3997166"/>
            <a:ext cx="477083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-읽은 만큼, 이해한 만큼 돌려받다-</a:t>
            </a:r>
            <a:endParaRPr lang="en-US" sz="2650" b="1" dirty="0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2999303"/>
            <a:ext cx="30480" cy="1763316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52445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1. AI 튜터</a:t>
            </a:r>
            <a:endParaRPr lang="en-US" sz="2200" b="1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8257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독서 활동을 분석하고 </a:t>
            </a:r>
            <a:r>
              <a:rPr lang="en-US" sz="1750" b="1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이해도를 점검</a:t>
            </a: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하는 지능형 튜터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52445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2. 게이미피케이션</a:t>
            </a:r>
            <a:endParaRPr lang="en-US" sz="2200" b="1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58257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오프라인 </a:t>
            </a:r>
            <a:r>
              <a:rPr lang="en-US" sz="1750" b="1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도서관 이용을 게임처럼</a:t>
            </a: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 즐기는 미션 시스템</a:t>
            </a:r>
            <a:endParaRPr lang="en-US" sz="17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87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핵심 기능</a:t>
            </a:r>
            <a:endParaRPr lang="en-US" sz="4450" b="1" dirty="0">
              <a:latin typeface="+mj-ea"/>
              <a:ea typeface="+mj-e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481149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331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746558"/>
                </a:solidFill>
                <a:latin typeface="+mj-ea"/>
                <a:ea typeface="+mj-ea"/>
                <a:cs typeface="Gelasio Semi Bold" pitchFamily="34" charset="-120"/>
              </a:rPr>
              <a:t>AI 문해력 튜터</a:t>
            </a:r>
            <a:endParaRPr lang="en-US" sz="2200" b="1" dirty="0">
              <a:latin typeface="+mj-ea"/>
              <a:ea typeface="+mj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82203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대출 도서 기반 </a:t>
            </a:r>
            <a:r>
              <a:rPr lang="en-US" sz="1750" b="1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이해도</a:t>
            </a: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 </a:t>
            </a:r>
            <a:r>
              <a:rPr lang="en-US" sz="1750" b="1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점검 퀴즈 생성</a:t>
            </a: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. 반납 하루 전에 알림으로 응시 유도. 맞춤형 해설과 관련 도서 추천 제공.</a:t>
            </a:r>
            <a:endParaRPr lang="en-US" sz="1750" dirty="0">
              <a:latin typeface="+mj-ea"/>
              <a:ea typeface="+mj-ea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3481149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331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746558"/>
                </a:solidFill>
                <a:latin typeface="+mj-ea"/>
                <a:ea typeface="+mj-ea"/>
                <a:cs typeface="Gelasio Semi Bold" pitchFamily="34" charset="-120"/>
              </a:rPr>
              <a:t>도서관 원정대</a:t>
            </a:r>
            <a:endParaRPr lang="en-US" sz="2200" b="1" dirty="0">
              <a:latin typeface="+mj-ea"/>
              <a:ea typeface="+mj-ea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35893" y="482203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타관 반납 활성화를 위한 위치 기반 퀘스트. 생활 반경 내 </a:t>
            </a:r>
            <a:r>
              <a:rPr lang="en-US" sz="1750" b="1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최적 반납처 추천</a:t>
            </a: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으로 편의성 극대화.</a:t>
            </a:r>
            <a:endParaRPr lang="en-US" sz="1750" dirty="0">
              <a:latin typeface="+mj-ea"/>
              <a:ea typeface="+mj-ea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3481149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331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746558"/>
                </a:solidFill>
                <a:latin typeface="+mj-ea"/>
                <a:ea typeface="+mj-ea"/>
                <a:cs typeface="Gelasio Semi Bold" pitchFamily="34" charset="-120"/>
              </a:rPr>
              <a:t>독서 마일리지</a:t>
            </a:r>
            <a:endParaRPr lang="en-US" sz="2200" b="1" dirty="0">
              <a:latin typeface="+mj-ea"/>
              <a:ea typeface="+mj-ea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677995" y="482203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퀴즈 점수와 퀘스트 완료로 </a:t>
            </a:r>
            <a:r>
              <a:rPr lang="en-US" sz="1750" b="1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마일리지 적립</a:t>
            </a: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. </a:t>
            </a:r>
            <a:r>
              <a:rPr lang="en-US" sz="1750" b="1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대출 권수 상향, 연체 면제</a:t>
            </a: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 등 실질적 혜택 교환.</a:t>
            </a:r>
            <a:endParaRPr lang="en-US" sz="17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495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책이음 데이터 활용 방안</a:t>
            </a:r>
            <a:endParaRPr lang="en-US" sz="4450" b="1" dirty="0">
              <a:latin typeface="+mj-ea"/>
              <a:ea typeface="+mj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737366"/>
            <a:ext cx="13042821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74498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462" y="288869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구분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89108" y="288869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활용 데이터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943" y="288869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분석 방법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802779" y="288869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제공 서비스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39530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353901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문해력 진단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9108" y="353901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ISBN, 서명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943" y="353901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생성형 AI 프롬프트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802779" y="353901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맞춤형 퀴즈 생성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04562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462" y="418933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289108" y="418933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대출/반납일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45943" y="418933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완독기간 분석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802779" y="418933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읽기 숙련도 측정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469594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462" y="483965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289108" y="483965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청구기호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943" y="483965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독서 편중도 분석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802779" y="483965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균형 독서 큐레이션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34626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462" y="548997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위치 서비스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289108" y="5489972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타관 반납 정보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545943" y="5489972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이동 경로 패턴 마이닝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0802779" y="548997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최적 반납 루트 추천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801410" y="599658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28462" y="614029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4289108" y="614029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도서관 좌표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7545943" y="614029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GIS 매핑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10802779" y="614029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주변 반납처 시각화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2944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AI 기술 적용</a:t>
            </a:r>
            <a:endParaRPr lang="en-US" sz="4450" b="1" dirty="0">
              <a:latin typeface="+mj-ea"/>
              <a:ea typeface="+mj-ea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278386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+mj-ea"/>
                <a:ea typeface="+mj-ea"/>
                <a:cs typeface="Gelasio Semi Bold" pitchFamily="34" charset="-120"/>
              </a:rPr>
              <a:t>검색 증강 생성 (RAG)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6" name="Text 2"/>
          <p:cNvSpPr/>
          <p:nvPr/>
        </p:nvSpPr>
        <p:spPr>
          <a:xfrm>
            <a:off x="7641074" y="399561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ISBN 기반 검증된 도서 정보 검색으로 AI 환각 현상 방지</a:t>
            </a:r>
            <a:endParaRPr lang="en-US" sz="1750" dirty="0">
              <a:latin typeface="+mj-ea"/>
              <a:ea typeface="+mj-ea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639270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+mj-ea"/>
                <a:ea typeface="+mj-ea"/>
                <a:cs typeface="Gelasio Semi Bold" pitchFamily="34" charset="-120"/>
              </a:rPr>
              <a:t>단계적 추론 (CoT)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9" name="Text 4"/>
          <p:cNvSpPr/>
          <p:nvPr/>
        </p:nvSpPr>
        <p:spPr>
          <a:xfrm>
            <a:off x="7641074" y="53565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중간 추론 단계를 거쳐 사고력이 필요한 고품질 퀴즈 생성</a:t>
            </a:r>
            <a:endParaRPr lang="en-US" sz="17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130" y="2552700"/>
            <a:ext cx="5387340" cy="3124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647581"/>
            <a:ext cx="567463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시스템 구성 및 서비스 화면</a:t>
            </a:r>
            <a:endParaRPr lang="en-US" sz="4000" b="1" dirty="0">
              <a:latin typeface="+mj-ea"/>
              <a:ea typeface="+mj-ea"/>
            </a:endParaRPr>
          </a:p>
        </p:txBody>
      </p:sp>
      <p:sp>
        <p:nvSpPr>
          <p:cNvPr id="5" name="Text 1"/>
          <p:cNvSpPr/>
          <p:nvPr/>
        </p:nvSpPr>
        <p:spPr>
          <a:xfrm>
            <a:off x="793790" y="179570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시스템 아키텍처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6" name="Text 2"/>
          <p:cNvSpPr/>
          <p:nvPr/>
        </p:nvSpPr>
        <p:spPr>
          <a:xfrm>
            <a:off x="793790" y="2318623"/>
            <a:ext cx="261485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퀴즈 생성 엔진 (RAG/CoT)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7" name="Text 3"/>
          <p:cNvSpPr/>
          <p:nvPr/>
        </p:nvSpPr>
        <p:spPr>
          <a:xfrm>
            <a:off x="793790" y="3043476"/>
            <a:ext cx="26148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경로 추천 엔진 (위치 기반)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8" name="Text 4"/>
          <p:cNvSpPr/>
          <p:nvPr/>
        </p:nvSpPr>
        <p:spPr>
          <a:xfrm>
            <a:off x="793790" y="3441621"/>
            <a:ext cx="26148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데이터 분석 엔진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9" name="Text 5"/>
          <p:cNvSpPr/>
          <p:nvPr/>
        </p:nvSpPr>
        <p:spPr>
          <a:xfrm>
            <a:off x="793790" y="3839766"/>
            <a:ext cx="26148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책이음 데이터 연동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914180" y="179570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주요 화면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914180" y="2318623"/>
            <a:ext cx="26148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AI 튜터: 맞춤형 퀴즈 제공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914180" y="2716768"/>
            <a:ext cx="26148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도서관 원정대: 미션 수행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914180" y="3114913"/>
            <a:ext cx="26148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마이페이지: 성장 그래프</a:t>
            </a:r>
            <a:endParaRPr lang="en-US" sz="1600" dirty="0">
              <a:latin typeface="+mj-ea"/>
              <a:ea typeface="+mj-ea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467463"/>
            <a:ext cx="5154811" cy="31144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193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84237"/>
                </a:solidFill>
                <a:latin typeface="+mj-ea"/>
                <a:ea typeface="+mj-ea"/>
                <a:cs typeface="Gelasio Semi Bold" pitchFamily="34" charset="-120"/>
              </a:rPr>
              <a:t>기대효과</a:t>
            </a:r>
            <a:endParaRPr lang="en-US" sz="4450" b="1" dirty="0">
              <a:latin typeface="+mj-ea"/>
              <a:ea typeface="+mj-ea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4768334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EEE8DD"/>
          </a:solidFill>
          <a:ln/>
        </p:spPr>
      </p:sp>
      <p:sp>
        <p:nvSpPr>
          <p:cNvPr id="5" name="Shape 2"/>
          <p:cNvSpPr/>
          <p:nvPr/>
        </p:nvSpPr>
        <p:spPr>
          <a:xfrm>
            <a:off x="1020604" y="49951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3C5B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5182195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59024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746558"/>
                </a:solidFill>
                <a:latin typeface="+mj-ea"/>
                <a:ea typeface="+mj-ea"/>
                <a:cs typeface="Gelasio Semi Bold" pitchFamily="34" charset="-120"/>
              </a:rPr>
              <a:t>정성적 효과</a:t>
            </a:r>
            <a:endParaRPr lang="en-US" sz="2200" b="1" dirty="0">
              <a:latin typeface="+mj-ea"/>
              <a:ea typeface="+mj-ea"/>
            </a:endParaRPr>
          </a:p>
        </p:txBody>
      </p:sp>
      <p:sp>
        <p:nvSpPr>
          <p:cNvPr id="8" name="Text 4"/>
          <p:cNvSpPr/>
          <p:nvPr/>
        </p:nvSpPr>
        <p:spPr>
          <a:xfrm>
            <a:off x="1020604" y="6392823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완전한 독서 경험 제공으로 </a:t>
            </a:r>
            <a:r>
              <a:rPr lang="en-US" sz="1750" b="1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국민 문해력 향상</a:t>
            </a: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. 게임 요소로 책이음 서비스 인지도 제고.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9" name="Shape 5"/>
          <p:cNvSpPr/>
          <p:nvPr/>
        </p:nvSpPr>
        <p:spPr>
          <a:xfrm>
            <a:off x="7428548" y="4768334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EEE8DD"/>
          </a:solidFill>
          <a:ln/>
        </p:spPr>
      </p:sp>
      <p:sp>
        <p:nvSpPr>
          <p:cNvPr id="10" name="Shape 6"/>
          <p:cNvSpPr/>
          <p:nvPr/>
        </p:nvSpPr>
        <p:spPr>
          <a:xfrm>
            <a:off x="7655362" y="49951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3C5B6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42528" y="5182195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55362" y="59024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746558"/>
                </a:solidFill>
                <a:latin typeface="+mj-ea"/>
                <a:ea typeface="+mj-ea"/>
                <a:cs typeface="Gelasio Semi Bold" pitchFamily="34" charset="-120"/>
              </a:rPr>
              <a:t>정량적 효과</a:t>
            </a:r>
            <a:endParaRPr lang="en-US" sz="2200" b="1" dirty="0">
              <a:latin typeface="+mj-ea"/>
              <a:ea typeface="+mj-ea"/>
            </a:endParaRPr>
          </a:p>
        </p:txBody>
      </p:sp>
      <p:sp>
        <p:nvSpPr>
          <p:cNvPr id="13" name="Text 8"/>
          <p:cNvSpPr/>
          <p:nvPr/>
        </p:nvSpPr>
        <p:spPr>
          <a:xfrm>
            <a:off x="7655362" y="6392823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앱 </a:t>
            </a:r>
            <a:r>
              <a:rPr lang="en-US" sz="1750" b="1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체류 시간</a:t>
            </a: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 증대. 타관 반납으로 </a:t>
            </a:r>
            <a:r>
              <a:rPr lang="en-US" sz="1750" b="1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도서 순환율</a:t>
            </a: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 개선. 도서별</a:t>
            </a:r>
            <a:r>
              <a:rPr lang="en-US" sz="1750" b="1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 완독률 </a:t>
            </a:r>
            <a:r>
              <a:rPr lang="en-US" sz="1750" dirty="0">
                <a:solidFill>
                  <a:srgbClr val="746558"/>
                </a:solidFill>
                <a:latin typeface="+mj-ea"/>
                <a:ea typeface="+mj-ea"/>
                <a:cs typeface="Gelasio" pitchFamily="34" charset="-120"/>
              </a:rPr>
              <a:t>데이터 구축.</a:t>
            </a:r>
            <a:endParaRPr lang="en-US" sz="17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410</Words>
  <Application>Microsoft Office PowerPoint</Application>
  <PresentationFormat>사용자 지정</PresentationFormat>
  <Paragraphs>83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Gelasio Semi Bold</vt:lpstr>
      <vt:lpstr>Gelasio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신홍근</dc:creator>
  <cp:lastModifiedBy>홍근 신</cp:lastModifiedBy>
  <cp:revision>2</cp:revision>
  <dcterms:created xsi:type="dcterms:W3CDTF">2025-12-03T05:58:13Z</dcterms:created>
  <dcterms:modified xsi:type="dcterms:W3CDTF">2025-12-03T06:05:28Z</dcterms:modified>
</cp:coreProperties>
</file>